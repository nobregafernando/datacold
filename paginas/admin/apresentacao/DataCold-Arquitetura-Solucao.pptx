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23B7A">
              <a:alpha val="40000"/>
            </a:srgbClr>
          </a:solidFill>
          <a:ln w="12700">
            <a:solidFill>
              <a:srgbClr val="123B7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1E6FD6">
              <a:alpha val="25000"/>
            </a:srgbClr>
          </a:solidFill>
          <a:ln w="12700">
            <a:solidFill>
              <a:srgbClr val="1E6FD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57200"/>
            <a:ext cx="1097280" cy="1097280"/>
          </a:xfrm>
          <a:prstGeom prst="ellipse">
            <a:avLst/>
          </a:prstGeom>
          <a:solidFill>
            <a:srgbClr val="00B8F0">
              <a:alpha val="30000"/>
            </a:srgbClr>
          </a:solidFill>
          <a:ln w="12700">
            <a:solidFill>
              <a:srgbClr val="00B8F0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731520"/>
            <a:ext cx="45720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00B8F0"/>
                </a:solidFill>
              </a:rPr>
              <a:t>ARQUITETURA DE SOLUÇÃO IoT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DBFF"/>
                </a:solidFill>
              </a:rPr>
              <a:t>Telemetria de Temperatura · Conectividade Redundante · Continuidade Operacional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4297680"/>
            <a:ext cx="2743200" cy="36576"/>
          </a:xfrm>
          <a:prstGeom prst="rect">
            <a:avLst/>
          </a:prstGeom>
          <a:solidFill>
            <a:srgbClr val="00B8F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VISÃO GERAL DOS CENÁRIOS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CENÁRIO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Melhor Opção — Sensor Industrial Dedicado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Sensor IoT SM-3EGW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Comunicação: RJ45 / Wi-Fi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Protocolo MQTT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Servidor Local Edge com buffer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Servidor Web / Cloud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Firewall R3000 Intelbras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Até 4 operadoras (Multi-WAN)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CENÁRIO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Integração com IoT Existente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Sensor IoT existente local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Comunicação: Wi-Fi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Protocolo MQTT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Access Point / Roteador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Servidor Local / Edge (Broker MQTT)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Servidor Web / Cloud + 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D3A"/>
                </a:solidFill>
              </a:rPr>
              <a:t>Firewall R3000 Intelbras Multi-WAN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CENÁRIO 1 — ARQUITETURA DETALHADA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DBFF"/>
                </a:solidFill>
              </a:rPr>
              <a:t>Sensor Industrial Dedicado · IoT SM-3EGW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1143000"/>
            <a:ext cx="1234440" cy="7772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IoT SM-3EGW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RJ45/Wi-Fi · MQTT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99032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664208" y="1143000"/>
            <a:ext cx="1234440" cy="77724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64208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SWITCH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64208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Rede local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26080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191256" y="1143000"/>
            <a:ext cx="1234440" cy="777240"/>
          </a:xfrm>
          <a:prstGeom prst="rect">
            <a:avLst/>
          </a:prstGeom>
          <a:solidFill>
            <a:srgbClr val="1E6FD6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91256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LOCAL EDGE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91256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Buffer · Eventos · Offline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53128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8304" y="1143000"/>
            <a:ext cx="1234440" cy="777240"/>
          </a:xfrm>
          <a:prstGeom prst="rect">
            <a:avLst/>
          </a:prstGeom>
          <a:solidFill>
            <a:srgbClr val="0095C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WEB / CLOUD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8304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Dashboard · Relatórios · Alertas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80176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1143000"/>
            <a:ext cx="1234440" cy="77724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5352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SWITCH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45352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Saída para internet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507224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8392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1143000"/>
            <a:ext cx="1234440" cy="7772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0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FIREWALL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R3000 INTELBRAS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Multi-WAN · Failover · Balanceamento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" y="2103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OPERADORAS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2423160"/>
            <a:ext cx="1645920" cy="502920"/>
          </a:xfrm>
          <a:prstGeom prst="rect">
            <a:avLst/>
          </a:prstGeom>
          <a:solidFill>
            <a:srgbClr val="00B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54480" y="2148840"/>
            <a:ext cx="0" cy="274320"/>
          </a:xfrm>
          <a:prstGeom prst="line">
            <a:avLst/>
          </a:prstGeom>
          <a:noFill/>
          <a:ln w="19050">
            <a:solidFill>
              <a:srgbClr val="00B8F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651760" y="2423160"/>
            <a:ext cx="1645920" cy="502920"/>
          </a:xfrm>
          <a:prstGeom prst="rect">
            <a:avLst/>
          </a:prstGeom>
          <a:solidFill>
            <a:srgbClr val="00B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65176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148840"/>
            <a:ext cx="0" cy="274320"/>
          </a:xfrm>
          <a:prstGeom prst="line">
            <a:avLst/>
          </a:prstGeom>
          <a:noFill/>
          <a:ln w="19050">
            <a:solidFill>
              <a:srgbClr val="00B8F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572000" y="2423160"/>
            <a:ext cx="1645920" cy="502920"/>
          </a:xfrm>
          <a:prstGeom prst="rect">
            <a:avLst/>
          </a:prstGeom>
          <a:solidFill>
            <a:srgbClr val="00B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94960" y="2148840"/>
            <a:ext cx="0" cy="274320"/>
          </a:xfrm>
          <a:prstGeom prst="line">
            <a:avLst/>
          </a:prstGeom>
          <a:noFill/>
          <a:ln w="19050">
            <a:solidFill>
              <a:srgbClr val="00B8F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492240" y="2423160"/>
            <a:ext cx="1645920" cy="502920"/>
          </a:xfrm>
          <a:prstGeom prst="rect">
            <a:avLst/>
          </a:prstGeom>
          <a:solidFill>
            <a:srgbClr val="00B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2148840"/>
            <a:ext cx="0" cy="274320"/>
          </a:xfrm>
          <a:prstGeom prst="line">
            <a:avLst/>
          </a:prstGeom>
          <a:noFill/>
          <a:ln w="19050">
            <a:solidFill>
              <a:srgbClr val="00B8F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65760" y="3108960"/>
            <a:ext cx="8412480" cy="146304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182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B7A"/>
                </a:solidFill>
              </a:rPr>
              <a:t>⚡  RESILIÊNCIA OFFLINE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352044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1. Internet cai → Servidor local continua recebendo MQTT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2. Dados salvos no banco local com timestamp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3. Quando internet retorna → Sincronização automática com a nuvem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CENÁRIO 1 — DETALHES POR CAMADA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Sensor / Equipamento Industrial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Modelo: IoT SM-3EGW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Conectividade: RJ45 (cabeado) + Wi-Fi (sem fio)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Protocolo de envio: MQTT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Servidor Local Edge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34416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Armazena dados localmente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Trata eventos em tempo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Mantém operação mesmo sem internet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Buffer de dados para sincronização posterior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Servidor Web /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Dashboard interativo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Histórico completo de temperatura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Relatórios exportáveis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Alertas remotos configuráveis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Firewall R3000 Intelbras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31012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Balanceamento de carga entre operadoras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Failover automático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Multi-WAN com até 4 operadoras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Alta disponibilidade de conexão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CENÁRIO 2 — ARQUITETURA DETALHADA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6FF"/>
                </a:solidFill>
              </a:rPr>
              <a:t>Integração com Sensores IoT Existentes · Wi-Fi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1143000"/>
            <a:ext cx="1234440" cy="7772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IoT EXISTENTE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Wi-Fi · MQTT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99032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664208" y="1143000"/>
            <a:ext cx="1234440" cy="77724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64208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ACCESS 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/ ROTEADOR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64208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Rede Wi-Fi local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26080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191256" y="1143000"/>
            <a:ext cx="1234440" cy="777240"/>
          </a:xfrm>
          <a:prstGeom prst="rect">
            <a:avLst/>
          </a:prstGeom>
          <a:solidFill>
            <a:srgbClr val="0E5AAB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91256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SWITCH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91256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Rede cabeada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53128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8304" y="1143000"/>
            <a:ext cx="1234440" cy="777240"/>
          </a:xfrm>
          <a:prstGeom prst="rect">
            <a:avLst/>
          </a:prstGeom>
          <a:solidFill>
            <a:srgbClr val="1E6FD6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LOCAL / EDGE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8304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Broker MQTT · Dashboard local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80176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1143000"/>
            <a:ext cx="1234440" cy="777240"/>
          </a:xfrm>
          <a:prstGeom prst="rect">
            <a:avLst/>
          </a:prstGeom>
          <a:solidFill>
            <a:srgbClr val="0095C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5352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WEB / CLOUD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45352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IA · Histórico · Monitoramento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507224" y="1531620"/>
            <a:ext cx="237744" cy="0"/>
          </a:xfrm>
          <a:prstGeom prst="line">
            <a:avLst/>
          </a:prstGeom>
          <a:noFill/>
          <a:ln w="25400">
            <a:solidFill>
              <a:srgbClr val="00B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8392" y="1476756"/>
            <a:ext cx="73152" cy="109728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1143000"/>
            <a:ext cx="1234440" cy="7772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0" y="11795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FIREWALL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R3000 INTELBRAS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16367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DBFF"/>
                </a:solidFill>
              </a:rPr>
              <a:t>Multi-WAN · Failover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" y="2103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OPERADORAS — ATÉ 4 LINKS SIMULTÂNEOS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2423160"/>
            <a:ext cx="1645920" cy="50292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54480" y="2148840"/>
            <a:ext cx="0" cy="274320"/>
          </a:xfrm>
          <a:prstGeom prst="line">
            <a:avLst/>
          </a:prstGeom>
          <a:noFill/>
          <a:ln w="19050">
            <a:solidFill>
              <a:srgbClr val="123B7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651760" y="2423160"/>
            <a:ext cx="1645920" cy="50292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65176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148840"/>
            <a:ext cx="0" cy="274320"/>
          </a:xfrm>
          <a:prstGeom prst="line">
            <a:avLst/>
          </a:prstGeom>
          <a:noFill/>
          <a:ln w="19050">
            <a:solidFill>
              <a:srgbClr val="123B7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572000" y="2423160"/>
            <a:ext cx="1645920" cy="50292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94960" y="2148840"/>
            <a:ext cx="0" cy="274320"/>
          </a:xfrm>
          <a:prstGeom prst="line">
            <a:avLst/>
          </a:prstGeom>
          <a:noFill/>
          <a:ln w="19050">
            <a:solidFill>
              <a:srgbClr val="123B7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492240" y="2423160"/>
            <a:ext cx="1645920" cy="502920"/>
          </a:xfrm>
          <a:prstGeom prst="rect">
            <a:avLst/>
          </a:prstGeom>
          <a:solidFill>
            <a:srgbClr val="123B7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2423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Operadora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2148840"/>
            <a:ext cx="0" cy="274320"/>
          </a:xfrm>
          <a:prstGeom prst="line">
            <a:avLst/>
          </a:prstGeom>
          <a:noFill/>
          <a:ln w="19050">
            <a:solidFill>
              <a:srgbClr val="123B7A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65760" y="3108960"/>
            <a:ext cx="8412480" cy="146304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182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B7A"/>
                </a:solidFill>
              </a:rPr>
              <a:t>🤖  DIFERENCIAIS DO CENÁRIO 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352044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Aproveita sensores IoT já instalados no ambiente (sem troca de hardware)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Broker MQTT local garante continuidade mesmo com falha na internet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Camada de IA na nuvem para análise preditiva e detecção de anomalias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CENÁRIO 2 — DETALHES POR CAMADA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Sensor IoT / Equipamento Existente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Dispositivo já instalado no ambiente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Comunicação via Wi-Fi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Protocolo MQTT para envio de dados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 Point / Roteador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34416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Ponto de acesso wireless local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Conecta sensores à rede cabeada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Pode ser equipamento já existente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Servidor Local / Edge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Broker MQTT integrado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Banco de dados local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Buffer de mensagens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Processamento local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Dashboard de visualização local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E6F6FF"/>
          </a:solidFill>
          <a:ln w="12700">
            <a:solidFill>
              <a:srgbClr val="8ED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Servidor Web /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31012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Histórico de longa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IA para análise preditiva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Monitoramento remoto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B1D3A"/>
                </a:solidFill>
              </a:rPr>
              <a:t>Relatórios e exportações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5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COMPARATIVO DOS CENÁRIOS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914400"/>
            <a:ext cx="2560320" cy="3657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Critério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8" name="Text 5"/>
          <p:cNvSpPr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Cenário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914400"/>
            <a:ext cx="2743200" cy="36576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Cenário 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280160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2801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Hardware do sensor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1280160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0" y="1280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IoT SM-3EGW dedicado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1280160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280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IoT existente (qualquer)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1719072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1719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Conectividade do sensor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171907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08960" y="17190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RJ45 + Wi-Fi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171907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17190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Wi-Fi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2157984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1579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Access Point necessário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08960" y="2157984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157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Não obrigatório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52160" y="2157984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2157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Sim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2596896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5968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Operação offline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08960" y="259689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08960" y="25968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✔ Sim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52160" y="259689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25968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✔ Sim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3035808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30358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Redundância de internet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108960" y="3035808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08960" y="30358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Até 4 operadoras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52160" y="3035808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2160" y="30358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Até 4 operadoras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3474720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34747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Dashboard local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108960" y="347472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108960" y="3474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Opcional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852160" y="347472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52160" y="3474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✔ Incluso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8640" y="3913632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" y="39136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IA na nuvem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108960" y="3913632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108960" y="39136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Opcional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852160" y="3913632"/>
            <a:ext cx="2743200" cy="420624"/>
          </a:xfrm>
          <a:prstGeom prst="rect">
            <a:avLst/>
          </a:prstGeom>
          <a:solidFill>
            <a:srgbClr val="E6F6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52160" y="39136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✔ Incluso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48640" y="4352544"/>
            <a:ext cx="2560320" cy="420624"/>
          </a:xfrm>
          <a:prstGeom prst="rect">
            <a:avLst/>
          </a:prstGeom>
          <a:solidFill>
            <a:srgbClr val="EEF4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8640" y="43525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B7A"/>
                </a:solidFill>
              </a:rPr>
              <a:t>Ideal para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108960" y="435254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108960" y="43525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Novas instalações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5852160" y="435254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8EDB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852160" y="43525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A"/>
                </a:solidFill>
              </a:rPr>
              <a:t>Ambientes já equipados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FIREWALL R3000 INTELBRAS — CONECTIVIDADE REDUNDANTE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73736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Multi-WAN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Suporte a até 4 operadoras de internet simultaneamente, garantindo máxima disponibilidade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173736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Failover Automático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Troca automática de operadora em caso de falha, sem interrupção do serviço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109728" cy="1737360"/>
          </a:xfrm>
          <a:prstGeom prst="rect">
            <a:avLst/>
          </a:prstGeom>
          <a:solidFill>
            <a:srgbClr val="123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Balanceamento de Carga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Distribui o tráfego entre as operadoras disponíveis para otimizar performance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DB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109728" cy="1737360"/>
          </a:xfrm>
          <a:prstGeom prst="rect">
            <a:avLst/>
          </a:prstGeom>
          <a:solidFill>
            <a:srgbClr val="1E6FD6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Firewall Avançado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Protege a rede local contra ameaças externas com regras configuráveis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EDBFF"/>
                </a:solidFill>
              </a:rPr>
              <a:t>Com o R3000 Intelbras, a solução DataCold mantém conectividade contínua mesmo com falhas em operadoras individuais.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23B7A">
              <a:alpha val="50000"/>
            </a:srgbClr>
          </a:solidFill>
          <a:ln w="12700">
            <a:solidFill>
              <a:srgbClr val="123B7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E6FD6">
              <a:alpha val="35000"/>
            </a:srgbClr>
          </a:solidFill>
          <a:ln w="12700">
            <a:solidFill>
              <a:srgbClr val="1E6FD6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BENEFÍCIOS DA SOLUÇÃO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8F0"/>
                </a:solidFill>
              </a:rPr>
              <a:t>DataCold · Temperature. Telemetry. Insights.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904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Continuidade Operacional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Operação offline garante zero perda de dados mesmo sem internet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4904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Alta Disponibilidade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Redundância com até 4 operadoras via Firewall R3000 Intelbras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4904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Escalabilidade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Solução cresce com sua operação: novos sensores, novas unidades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3192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Conformidade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Histórico completo para auditorias e requisitos regulatórios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0712" y="33192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410712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Insights em Tempo Real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4114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Dashboard + alertas + relatórios para decisões rápidas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3154680"/>
            <a:ext cx="2697480" cy="1600200"/>
          </a:xfrm>
          <a:prstGeom prst="rect">
            <a:avLst/>
          </a:prstGeom>
          <a:solidFill>
            <a:srgbClr val="123B7A">
              <a:alpha val="70000"/>
            </a:srgbClr>
          </a:solidFill>
          <a:ln w="12700">
            <a:solidFill>
              <a:srgbClr val="1E6F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319272"/>
            <a:ext cx="411480" cy="411480"/>
          </a:xfrm>
          <a:prstGeom prst="ellipse">
            <a:avLst/>
          </a:prstGeom>
          <a:solidFill>
            <a:srgbClr val="00B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336792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Flexibilidade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114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BFF"/>
                </a:solidFill>
              </a:rPr>
              <a:t>Dois cenários de implantação: hardware novo ou reuso de IoT existente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E6FD6">
              <a:alpha val="30000"/>
            </a:srgbClr>
          </a:solidFill>
          <a:ln w="12700">
            <a:solidFill>
              <a:srgbClr val="1E6FD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B8F0">
              <a:alpha val="25000"/>
            </a:srgbClr>
          </a:solidFill>
          <a:ln w="12700">
            <a:solidFill>
              <a:srgbClr val="00B8F0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548640"/>
            <a:ext cx="457200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Pronto para conectar sua operação ao futuro.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0B8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0B8F0"/>
                </a:solidFill>
              </a:rPr>
              <a:t>TEMPERATURE · TELEMETRY ·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DBFF"/>
                </a:solidFill>
              </a:rPr>
              <a:t>www.datacold.com.br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DataCold - Arquitetura de Solução</dc:title>
  <dc:subject>PptxGenJS Presentation</dc:subject>
  <dc:creator>PptxGenJS</dc:creator>
  <cp:lastModifiedBy>PptxGenJS</cp:lastModifiedBy>
  <cp:revision>1</cp:revision>
  <dcterms:created xsi:type="dcterms:W3CDTF">2026-05-23T18:33:07Z</dcterms:created>
  <dcterms:modified xsi:type="dcterms:W3CDTF">2026-05-23T18:33:07Z</dcterms:modified>
</cp:coreProperties>
</file>